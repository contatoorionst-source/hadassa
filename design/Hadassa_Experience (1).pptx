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adassa_deck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273" y="502920"/>
            <a:ext cx="2054405" cy="1417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HADASSA EXPERIENCE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15468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Parceria entre Vendas e Pós-Venda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31520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B0896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7306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D4AF3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287306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3093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B089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843093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8879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D4AF3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8879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54665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B089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54665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10451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D4AF3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10451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Encantar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066238" y="4160520"/>
            <a:ext cx="1391194" cy="502920"/>
          </a:xfrm>
          <a:prstGeom prst="roundRect">
            <a:avLst>
              <a:gd name="adj" fmla="val 10909"/>
            </a:avLst>
          </a:prstGeom>
          <a:solidFill>
            <a:srgbClr val="B0896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66238" y="4160520"/>
            <a:ext cx="13911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0749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cliente, um acompanhamento completo — da venda ao pós-venda.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F7F1E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274320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o pós-venda entra em cena quando surge um problema.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é inverter essa lógica: acompanhar o cliente do pedido à fidelização, de forma contínua — não apenas reativa.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0" y="15544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0" y="166420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16642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da jornada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31546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0" y="326440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32644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de pós-entrega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47548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0" y="486460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486460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para a diretoria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do Cliente Hadassa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3954" y="2103120"/>
            <a:ext cx="1234440" cy="1234440"/>
          </a:xfrm>
          <a:prstGeom prst="ellipse">
            <a:avLst/>
          </a:prstGeom>
          <a:solidFill>
            <a:srgbClr val="2B1B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3954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2269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35055" y="2103120"/>
            <a:ext cx="1234440" cy="1234440"/>
          </a:xfrm>
          <a:prstGeom prst="ellipse">
            <a:avLst/>
          </a:prstGeom>
          <a:solidFill>
            <a:srgbClr val="B089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35055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69741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43369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856155" y="2103120"/>
            <a:ext cx="1234440" cy="1234440"/>
          </a:xfrm>
          <a:prstGeom prst="ellipse">
            <a:avLst/>
          </a:prstGeom>
          <a:solidFill>
            <a:srgbClr val="2B1B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6155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790841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64470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77256" y="2103120"/>
            <a:ext cx="1234440" cy="1234440"/>
          </a:xfrm>
          <a:prstGeom prst="ellipse">
            <a:avLst/>
          </a:prstGeom>
          <a:solidFill>
            <a:srgbClr val="B089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77256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11942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85570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98357" y="2103120"/>
            <a:ext cx="1234440" cy="1234440"/>
          </a:xfrm>
          <a:prstGeom prst="ellipse">
            <a:avLst/>
          </a:prstGeom>
          <a:solidFill>
            <a:srgbClr val="2B1B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98357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33042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06671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719457" y="2103120"/>
            <a:ext cx="1234440" cy="1234440"/>
          </a:xfrm>
          <a:prstGeom prst="ellipse">
            <a:avLst/>
          </a:prstGeom>
          <a:solidFill>
            <a:srgbClr val="B0896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719457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654143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Encantar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927771" y="2331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340558" y="2103120"/>
            <a:ext cx="1234440" cy="1234440"/>
          </a:xfrm>
          <a:prstGeom prst="ellipse">
            <a:avLst/>
          </a:prstGeom>
          <a:solidFill>
            <a:srgbClr val="2B1B1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40558" y="2103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0275243" y="3520440"/>
            <a:ext cx="1365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572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entre Vendas e Pós-Venda passa a acontecer em cada uma dessas etapas — não só quando algo dá errado.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Pedido à Expedição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83864" cy="3931920"/>
          </a:xfrm>
          <a:prstGeom prst="roundRect">
            <a:avLst>
              <a:gd name="adj" fmla="val 2100"/>
            </a:avLst>
          </a:prstGeom>
          <a:solidFill>
            <a:srgbClr val="F7F1E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2935224" cy="457200"/>
          </a:xfrm>
          <a:prstGeom prst="roundRect">
            <a:avLst>
              <a:gd name="adj" fmla="val 12000"/>
            </a:avLst>
          </a:prstGeom>
          <a:solidFill>
            <a:srgbClr val="2B1B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Antes da Venda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437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padrão do cliente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Produto, modelo, cor e acessórios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e telefone confirmados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liberar o pedido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554480"/>
            <a:ext cx="3483864" cy="3931920"/>
          </a:xfrm>
          <a:prstGeom prst="roundRect">
            <a:avLst>
              <a:gd name="adj" fmla="val 2100"/>
            </a:avLst>
          </a:prstGeom>
          <a:solidFill>
            <a:srgbClr val="F7F1E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828800"/>
            <a:ext cx="2935224" cy="457200"/>
          </a:xfrm>
          <a:prstGeom prst="roundRect">
            <a:avLst>
              <a:gd name="adj" fmla="val 12000"/>
            </a:avLst>
          </a:prstGeom>
          <a:solidFill>
            <a:srgbClr val="2B1B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6864" y="18288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Durante a Fabricação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3317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743200"/>
            <a:ext cx="28437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padronizada ao cliente: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“Seu produto está em produção e sendo acompanhado pela nossa equipe.”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ansiedade e perguntas repetidas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1554480"/>
            <a:ext cx="3483864" cy="3931920"/>
          </a:xfrm>
          <a:prstGeom prst="roundRect">
            <a:avLst>
              <a:gd name="adj" fmla="val 2100"/>
            </a:avLst>
          </a:prstGeom>
          <a:solidFill>
            <a:srgbClr val="F7F1E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0768" y="1828800"/>
            <a:ext cx="2935224" cy="457200"/>
          </a:xfrm>
          <a:prstGeom prst="roundRect">
            <a:avLst>
              <a:gd name="adj" fmla="val 12000"/>
            </a:avLst>
          </a:prstGeom>
          <a:solidFill>
            <a:srgbClr val="2B1B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0768" y="18288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Antes do Envio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3317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743200"/>
            <a:ext cx="28437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conferência: produto, cor, acabamento, quantidade, acessórios, embalagem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antes da expedição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final “OK Hadassa”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Pós-Entrega: Relacionamento, não só Solução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567178" cy="2743200"/>
          </a:xfrm>
          <a:prstGeom prst="roundRect">
            <a:avLst>
              <a:gd name="adj" fmla="val 2850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34640"/>
            <a:ext cx="2109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recebimento e estado da embalagem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90138" y="1920240"/>
            <a:ext cx="2567178" cy="2743200"/>
          </a:xfrm>
          <a:prstGeom prst="roundRect">
            <a:avLst>
              <a:gd name="adj" fmla="val 2850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90138" y="21488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618738" y="2834640"/>
            <a:ext cx="2109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se o produto chegou corretamente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920240"/>
            <a:ext cx="2567178" cy="2743200"/>
          </a:xfrm>
          <a:prstGeom prst="roundRect">
            <a:avLst>
              <a:gd name="adj" fmla="val 2850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31636" y="21488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60236" y="2834640"/>
            <a:ext cx="2109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feedback sobre a experiência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73134" y="1920240"/>
            <a:ext cx="2567178" cy="2743200"/>
          </a:xfrm>
          <a:prstGeom prst="roundRect">
            <a:avLst>
              <a:gd name="adj" fmla="val 2850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73134" y="21488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D+15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301734" y="2834640"/>
            <a:ext cx="210997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se está tudo funcionando bem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pós-venda deixa de ser apenas resolução de problemas e passa a construir relacionamento.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da Voz do Cliente (mensal)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498080" cy="4572000"/>
        </p:xfrm>
        <a:graphic>
          <a:graphicData uri="http://schemas.openxmlformats.org/drawingml/2006/table">
            <a:tbl>
              <a:tblPr/>
              <a:tblGrid>
                <a:gridCol w="5212080"/>
                <a:gridCol w="22860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B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B1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atendimentos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não conformidades (NCs)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Principais problemas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 com maior recorrência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Peças mais substituídas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Problemas de embalagem / transporte / fabricação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médio de solução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1B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satisfeitos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1E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417320"/>
            <a:ext cx="3291840" cy="4572000"/>
          </a:xfrm>
          <a:prstGeom prst="roundRect">
            <a:avLst>
              <a:gd name="adj" fmla="val 2222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54964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Pergunta-chave de cada caso: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1945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que podemos fazer para não acontecer novamente?”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40233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o Pós-Venda vira fonte de melhoria contínua para Produção, Qualidade e Logística — não só um setor que apaga incêndio.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Pós-Venda Gera Oportunidade Comercial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7F1E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“Cliente Recuperado”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B089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2B1B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98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465576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B089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465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32504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2B1B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325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599432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B089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99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2B1B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166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77900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esse ciclo revela padrões: “esse tipo de ocorrência apareceu 18 vezes — corrigindo essa etapa, reduzimos reclamações.”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2B1B1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 → Relacionamento → Nova Venda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o cliente comprou uma cadeira. Meses depois, ele pode ter interesse em: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017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Lavatório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Cadeira adicional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Acessórios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complementos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 parte do relacionamento já existente — não de uma venda fria.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para a Diretoria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35454" cy="3017520"/>
          </a:xfrm>
          <a:prstGeom prst="roundRect">
            <a:avLst>
              <a:gd name="adj" fmla="val 3594"/>
            </a:avLst>
          </a:prstGeom>
          <a:solidFill>
            <a:srgbClr val="3A262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0354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176113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 cliente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12694" y="1554480"/>
            <a:ext cx="2035454" cy="3017520"/>
          </a:xfrm>
          <a:prstGeom prst="roundRect">
            <a:avLst>
              <a:gd name="adj" fmla="val 3594"/>
            </a:avLst>
          </a:prstGeom>
          <a:solidFill>
            <a:srgbClr val="3A262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12694" y="1737360"/>
            <a:ext cx="20354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949854" y="2560320"/>
            <a:ext cx="176113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reclamações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6749" y="1554480"/>
            <a:ext cx="2035454" cy="3017520"/>
          </a:xfrm>
          <a:prstGeom prst="roundRect">
            <a:avLst>
              <a:gd name="adj" fmla="val 3594"/>
            </a:avLst>
          </a:prstGeom>
          <a:solidFill>
            <a:srgbClr val="3A262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76749" y="1737360"/>
            <a:ext cx="20354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213909" y="2560320"/>
            <a:ext cx="176113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resolução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40803" y="1554480"/>
            <a:ext cx="2035454" cy="3017520"/>
          </a:xfrm>
          <a:prstGeom prst="roundRect">
            <a:avLst>
              <a:gd name="adj" fmla="val 3594"/>
            </a:avLst>
          </a:prstGeom>
          <a:solidFill>
            <a:srgbClr val="3A262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40803" y="1737360"/>
            <a:ext cx="20354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477963" y="2560320"/>
            <a:ext cx="176113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Reincidência de problemas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4858" y="1554480"/>
            <a:ext cx="2035454" cy="3017520"/>
          </a:xfrm>
          <a:prstGeom prst="roundRect">
            <a:avLst>
              <a:gd name="adj" fmla="val 3594"/>
            </a:avLst>
          </a:prstGeom>
          <a:solidFill>
            <a:srgbClr val="3A262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604858" y="1737360"/>
            <a:ext cx="20354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742018" y="2560320"/>
            <a:ext cx="176113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oportunidades geradas pelo relacionamento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5120640"/>
            <a:ext cx="9445752" cy="822960"/>
          </a:xfrm>
          <a:prstGeom prst="roundRect">
            <a:avLst>
              <a:gd name="adj" fmla="val 8889"/>
            </a:avLst>
          </a:prstGeom>
          <a:solidFill>
            <a:srgbClr val="B089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71600" y="51206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 ›  Produzir  ›  Conferir  ›  Entregar  ›  Acompanhar  ›  Encantar  ›  Fidelizar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adassa_deck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4900" y="548640"/>
            <a:ext cx="1259152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48756" y="1874520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" y="228600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“Cuidar do cliente é cuidar de gente.</a:t>
            </a:r>
            <a:endParaRPr lang="en-US" sz="2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FF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isso que a Hadassa faz, do primeiro contato ao pós-venda.”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545836" y="3794760"/>
            <a:ext cx="1097280" cy="0"/>
          </a:xfrm>
          <a:prstGeom prst="line">
            <a:avLst/>
          </a:prstGeom>
          <a:noFill/>
          <a:ln w="19050">
            <a:solidFill>
              <a:srgbClr val="B0896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406908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“Tudo o que fizerdes, fazei-o de todo o coração,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para o Senhor, e não para os homens.”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50749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Colossenses 3:23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HADASSA EXPERIENCE  •  Vendas + Pós-Venda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2026-09-25T11:44:48Z</dcterms:created>
  <dcterms:modified xsi:type="dcterms:W3CDTF">2026-09-25T11:44:48Z</dcterms:modified>
</cp:coreProperties>
</file>